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8229600" cx="14630400"/>
  <p:notesSz cx="8229600" cy="14630400"/>
  <p:embeddedFontLst>
    <p:embeddedFont>
      <p:font typeface="Funnel Sans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Barlow"/>
      <p:regular r:id="rId24"/>
      <p:bold r:id="rId25"/>
      <p:italic r:id="rId26"/>
      <p:boldItalic r:id="rId27"/>
    </p:embeddedFont>
    <p:embeddedFont>
      <p:font typeface="Mona Sans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Barlow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Barlow-italic.fntdata"/><Relationship Id="rId25" Type="http://schemas.openxmlformats.org/officeDocument/2006/relationships/font" Target="fonts/Barlow-bold.fntdata"/><Relationship Id="rId28" Type="http://schemas.openxmlformats.org/officeDocument/2006/relationships/font" Target="fonts/MonaSansSemiBold-regular.fntdata"/><Relationship Id="rId27" Type="http://schemas.openxmlformats.org/officeDocument/2006/relationships/font" Target="fonts/Barlow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aSansSemiBo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onaSansSemiBold-boldItalic.fntdata"/><Relationship Id="rId30" Type="http://schemas.openxmlformats.org/officeDocument/2006/relationships/font" Target="fonts/MonaSansSemiBold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FunnelSans-bold.fntdata"/><Relationship Id="rId16" Type="http://schemas.openxmlformats.org/officeDocument/2006/relationships/font" Target="fonts/FunnelSans-regular.fntdata"/><Relationship Id="rId19" Type="http://schemas.openxmlformats.org/officeDocument/2006/relationships/font" Target="fonts/FunnelSans-boldItalic.fntdata"/><Relationship Id="rId18" Type="http://schemas.openxmlformats.org/officeDocument/2006/relationships/font" Target="fonts/FunnelSans-italic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ea791ead5_2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eea791ead5_2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eea791ead5_2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4.png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4.png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4.png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4.png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4.png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4.png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4.png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4.png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4.png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4.png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2.png"/><Relationship Id="rId4" Type="http://schemas.openxmlformats.org/officeDocument/2006/relationships/image" Target="../media/image19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Relationship Id="rId5" Type="http://schemas.openxmlformats.org/officeDocument/2006/relationships/image" Target="../media/image32.png"/><Relationship Id="rId6" Type="http://schemas.openxmlformats.org/officeDocument/2006/relationships/image" Target="../media/image38.png"/><Relationship Id="rId7" Type="http://schemas.openxmlformats.org/officeDocument/2006/relationships/image" Target="../media/image37.png"/><Relationship Id="rId8" Type="http://schemas.openxmlformats.org/officeDocument/2006/relationships/image" Target="../media/image44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5.png"/><Relationship Id="rId4" Type="http://schemas.openxmlformats.org/officeDocument/2006/relationships/image" Target="../media/image28.png"/><Relationship Id="rId10" Type="http://schemas.openxmlformats.org/officeDocument/2006/relationships/image" Target="../media/image39.png"/><Relationship Id="rId9" Type="http://schemas.openxmlformats.org/officeDocument/2006/relationships/image" Target="../media/image42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40.png"/><Relationship Id="rId8" Type="http://schemas.openxmlformats.org/officeDocument/2006/relationships/image" Target="../media/image36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4.png"/><Relationship Id="rId4" Type="http://schemas.openxmlformats.org/officeDocument/2006/relationships/image" Target="../media/image4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6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7.png"/><Relationship Id="rId4" Type="http://schemas.openxmlformats.org/officeDocument/2006/relationships/image" Target="../media/image33.png"/><Relationship Id="rId5" Type="http://schemas.openxmlformats.org/officeDocument/2006/relationships/image" Target="../media/image41.png"/><Relationship Id="rId6" Type="http://schemas.openxmlformats.org/officeDocument/2006/relationships/image" Target="../media/image50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5.png"/><Relationship Id="rId4" Type="http://schemas.openxmlformats.org/officeDocument/2006/relationships/image" Target="../media/image43.png"/><Relationship Id="rId5" Type="http://schemas.openxmlformats.org/officeDocument/2006/relationships/image" Target="../media/image51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8.png"/><Relationship Id="rId4" Type="http://schemas.openxmlformats.org/officeDocument/2006/relationships/hyperlink" Target="mailto:info@example.com" TargetMode="External"/><Relationship Id="rId5" Type="http://schemas.openxmlformats.org/officeDocument/2006/relationships/hyperlink" Target="mailto:info@example.com" TargetMode="External"/><Relationship Id="rId6" Type="http://schemas.openxmlformats.org/officeDocument/2006/relationships/hyperlink" Target="https://www.exampl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6244709" y="2295882"/>
            <a:ext cx="6570107" cy="71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Ad Genie</a:t>
            </a:r>
            <a:endParaRPr b="0" i="0" sz="445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6244700" y="3333503"/>
            <a:ext cx="7627500" cy="23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Use this slide to introduce your product with a compelling headline that captures attention. </a:t>
            </a:r>
            <a:endParaRPr b="0" i="0" sz="1700" u="none" cap="none" strike="noStrike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t/>
            </a:r>
            <a:endParaRPr sz="1700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Add a brief subheadline explaining the core problem, what your AI solution does </a:t>
            </a:r>
            <a:r>
              <a:rPr lang="en-US" sz="1700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covering</a:t>
            </a: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technical execution </a:t>
            </a:r>
            <a:r>
              <a:rPr lang="en-US" sz="1700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&amp; </a:t>
            </a: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who it serves an</a:t>
            </a:r>
            <a:r>
              <a:rPr lang="en-US" sz="1700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d the path to scale</a:t>
            </a: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1700" u="none" cap="none" strike="noStrike"/>
          </a:p>
        </p:txBody>
      </p:sp>
      <p:sp>
        <p:nvSpPr>
          <p:cNvPr id="59" name="Google Shape;59;p13"/>
          <p:cNvSpPr/>
          <p:nvPr/>
        </p:nvSpPr>
        <p:spPr>
          <a:xfrm>
            <a:off x="6244709" y="6056505"/>
            <a:ext cx="76275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Include your company name, logo, and presenter information to establish credibility from the start.</a:t>
            </a:r>
            <a:endParaRPr b="0" i="0" sz="1700" u="none" cap="none" strike="noStrike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t/>
            </a:r>
            <a:endParaRPr sz="1700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t/>
            </a:r>
            <a:endParaRPr sz="1700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6244709" y="5570696"/>
            <a:ext cx="346591" cy="346591"/>
          </a:xfrm>
          <a:prstGeom prst="roundRect">
            <a:avLst>
              <a:gd fmla="val 26380043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6" name="Google Shape;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/>
          <p:nvPr/>
        </p:nvSpPr>
        <p:spPr>
          <a:xfrm>
            <a:off x="758309" y="1717715"/>
            <a:ext cx="5701546" cy="71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The Problem</a:t>
            </a:r>
            <a:endParaRPr b="0" i="0" sz="4450" u="none" cap="none" strike="noStrike"/>
          </a:p>
        </p:txBody>
      </p:sp>
      <p:sp>
        <p:nvSpPr>
          <p:cNvPr id="68" name="Google Shape;68;p14"/>
          <p:cNvSpPr/>
          <p:nvPr/>
        </p:nvSpPr>
        <p:spPr>
          <a:xfrm>
            <a:off x="758309" y="2999065"/>
            <a:ext cx="487442" cy="487442"/>
          </a:xfrm>
          <a:prstGeom prst="roundRect">
            <a:avLst>
              <a:gd fmla="val 40004" name="adj"/>
            </a:avLst>
          </a:prstGeom>
          <a:solidFill>
            <a:srgbClr val="EEEFF5"/>
          </a:solidFill>
          <a:ln>
            <a:noFill/>
          </a:ln>
          <a:effectLst>
            <a:outerShdw blurRad="53340" rotWithShape="0" algn="bl" dir="13500000" dist="26670">
              <a:srgbClr val="FFFFFF">
                <a:alpha val="6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0997" y="3029010"/>
            <a:ext cx="342067" cy="427553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/>
          <p:nvPr/>
        </p:nvSpPr>
        <p:spPr>
          <a:xfrm>
            <a:off x="1462326" y="2999065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Marketing teams waste significant time manually creating, testing, and optimizing ad campaigns across multiple platforms.</a:t>
            </a:r>
            <a:endParaRPr b="0" i="0" sz="2200" u="none" cap="none" strike="noStrike"/>
          </a:p>
        </p:txBody>
      </p:sp>
      <p:sp>
        <p:nvSpPr>
          <p:cNvPr id="71" name="Google Shape;71;p14"/>
          <p:cNvSpPr/>
          <p:nvPr/>
        </p:nvSpPr>
        <p:spPr>
          <a:xfrm>
            <a:off x="1462325" y="3485200"/>
            <a:ext cx="3001500" cy="16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Teams need a unified, intelligent system to accelerate campaign velocity and improve ROI.</a:t>
            </a:r>
            <a:endParaRPr b="0" i="0" sz="1700" u="none" cap="none" strike="noStrike"/>
          </a:p>
        </p:txBody>
      </p:sp>
      <p:sp>
        <p:nvSpPr>
          <p:cNvPr id="72" name="Google Shape;72;p14"/>
          <p:cNvSpPr/>
          <p:nvPr/>
        </p:nvSpPr>
        <p:spPr>
          <a:xfrm>
            <a:off x="4680347" y="2999065"/>
            <a:ext cx="487442" cy="487442"/>
          </a:xfrm>
          <a:prstGeom prst="roundRect">
            <a:avLst>
              <a:gd fmla="val 40004" name="adj"/>
            </a:avLst>
          </a:prstGeom>
          <a:solidFill>
            <a:srgbClr val="EEEFF5"/>
          </a:solidFill>
          <a:ln>
            <a:noFill/>
          </a:ln>
          <a:effectLst>
            <a:outerShdw blurRad="53340" rotWithShape="0" algn="bl" dir="13500000" dist="26670">
              <a:srgbClr val="FFFFFF">
                <a:alpha val="6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3035" y="3029010"/>
            <a:ext cx="342067" cy="42755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/>
          <p:nvPr/>
        </p:nvSpPr>
        <p:spPr>
          <a:xfrm>
            <a:off x="5384363" y="2999065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Pain Points</a:t>
            </a:r>
            <a:endParaRPr b="0" i="0" sz="2200" u="none" cap="none" strike="noStrike"/>
          </a:p>
        </p:txBody>
      </p:sp>
      <p:sp>
        <p:nvSpPr>
          <p:cNvPr id="75" name="Google Shape;75;p14"/>
          <p:cNvSpPr/>
          <p:nvPr/>
        </p:nvSpPr>
        <p:spPr>
          <a:xfrm>
            <a:off x="5384363" y="3485198"/>
            <a:ext cx="3001447" cy="138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List 3-4 specific challenges your </a:t>
            </a: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target audience</a:t>
            </a: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faces daily. Use statistics when possible.</a:t>
            </a:r>
            <a:endParaRPr b="0" i="0" sz="1700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758309" y="5332333"/>
            <a:ext cx="487442" cy="487442"/>
          </a:xfrm>
          <a:prstGeom prst="roundRect">
            <a:avLst>
              <a:gd fmla="val 40004" name="adj"/>
            </a:avLst>
          </a:prstGeom>
          <a:solidFill>
            <a:srgbClr val="EEEFF5"/>
          </a:solidFill>
          <a:ln>
            <a:noFill/>
          </a:ln>
          <a:effectLst>
            <a:outerShdw blurRad="53340" rotWithShape="0" algn="bl" dir="13500000" dist="26670">
              <a:srgbClr val="FFFFFF">
                <a:alpha val="6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997" y="5362277"/>
            <a:ext cx="342067" cy="427553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/>
          <p:nvPr/>
        </p:nvSpPr>
        <p:spPr>
          <a:xfrm>
            <a:off x="1462326" y="5332333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Market Impact</a:t>
            </a:r>
            <a:endParaRPr b="0" i="0" sz="2200" u="none" cap="none" strike="noStrike"/>
          </a:p>
        </p:txBody>
      </p:sp>
      <p:sp>
        <p:nvSpPr>
          <p:cNvPr id="79" name="Google Shape;79;p14"/>
          <p:cNvSpPr/>
          <p:nvPr/>
        </p:nvSpPr>
        <p:spPr>
          <a:xfrm>
            <a:off x="1462326" y="5818465"/>
            <a:ext cx="6923365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Marketing teams waste 15-20 hours/week on repetitive tasks, missing optimization opportunities and delayed market response.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/>
          <p:nvPr/>
        </p:nvSpPr>
        <p:spPr>
          <a:xfrm>
            <a:off x="758309" y="1588770"/>
            <a:ext cx="6566178" cy="71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Why This Problem Matters</a:t>
            </a:r>
            <a:endParaRPr b="0" i="0" sz="4450" u="none" cap="none" strike="noStrike"/>
          </a:p>
        </p:txBody>
      </p:sp>
      <p:pic>
        <p:nvPicPr>
          <p:cNvPr descr="preencoded.png" id="86" name="Google Shape;8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4774" y="2734747"/>
            <a:ext cx="2163723" cy="12659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7" name="Google Shape;8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4176" y="3334703"/>
            <a:ext cx="304681" cy="38076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/>
          <p:nvPr/>
        </p:nvSpPr>
        <p:spPr>
          <a:xfrm>
            <a:off x="5335072" y="2951321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Opportunity</a:t>
            </a:r>
            <a:endParaRPr b="0" i="0" sz="2200" u="none" cap="none" strike="noStrike"/>
          </a:p>
        </p:txBody>
      </p:sp>
      <p:sp>
        <p:nvSpPr>
          <p:cNvPr id="89" name="Google Shape;89;p15"/>
          <p:cNvSpPr/>
          <p:nvPr/>
        </p:nvSpPr>
        <p:spPr>
          <a:xfrm>
            <a:off x="5335072" y="3437453"/>
            <a:ext cx="397359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Generative AI and automation are reshaping advertising, but tools remain fragmented. Early adopters gain a competitive edge.</a:t>
            </a:r>
            <a:endParaRPr b="0" i="0" sz="1700" u="none" cap="none" strike="noStrike"/>
          </a:p>
        </p:txBody>
      </p:sp>
      <p:sp>
        <p:nvSpPr>
          <p:cNvPr id="90" name="Google Shape;90;p15"/>
          <p:cNvSpPr/>
          <p:nvPr/>
        </p:nvSpPr>
        <p:spPr>
          <a:xfrm>
            <a:off x="5172551" y="4012525"/>
            <a:ext cx="8645485" cy="15240"/>
          </a:xfrm>
          <a:prstGeom prst="roundRect">
            <a:avLst>
              <a:gd fmla="val 1279500" name="adj"/>
            </a:avLst>
          </a:prstGeom>
          <a:solidFill>
            <a:srgbClr val="C1C3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72972" y="4054793"/>
            <a:ext cx="4327446" cy="12659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2" name="Google Shape;9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84295" y="4497348"/>
            <a:ext cx="304681" cy="38076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/>
          <p:nvPr/>
        </p:nvSpPr>
        <p:spPr>
          <a:xfrm>
            <a:off x="6416993" y="4271367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Market Trends</a:t>
            </a:r>
            <a:endParaRPr b="0" i="0" sz="2200" u="none" cap="none" strike="noStrike"/>
          </a:p>
        </p:txBody>
      </p:sp>
      <p:sp>
        <p:nvSpPr>
          <p:cNvPr id="94" name="Google Shape;94;p15"/>
          <p:cNvSpPr/>
          <p:nvPr/>
        </p:nvSpPr>
        <p:spPr>
          <a:xfrm>
            <a:off x="6416993" y="4757499"/>
            <a:ext cx="4565690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Rise of AI in marketing automation, pressure for faster campaign execution, increasing need for data-driven optimization.</a:t>
            </a:r>
            <a:endParaRPr b="0" i="0" sz="1700" u="none" cap="none" strike="noStrike"/>
          </a:p>
        </p:txBody>
      </p:sp>
      <p:sp>
        <p:nvSpPr>
          <p:cNvPr id="95" name="Google Shape;95;p15"/>
          <p:cNvSpPr/>
          <p:nvPr/>
        </p:nvSpPr>
        <p:spPr>
          <a:xfrm>
            <a:off x="6254472" y="5332571"/>
            <a:ext cx="7563564" cy="15240"/>
          </a:xfrm>
          <a:prstGeom prst="roundRect">
            <a:avLst>
              <a:gd fmla="val 1279500" name="adj"/>
            </a:avLst>
          </a:prstGeom>
          <a:solidFill>
            <a:srgbClr val="C1C3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1051" y="5374838"/>
            <a:ext cx="6491288" cy="12659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" name="Google Shape;9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84295" y="5817394"/>
            <a:ext cx="304681" cy="38076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/>
          <p:nvPr/>
        </p:nvSpPr>
        <p:spPr>
          <a:xfrm>
            <a:off x="7498913" y="5591413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Market Size</a:t>
            </a:r>
            <a:endParaRPr b="0" i="0" sz="2200" u="none" cap="none" strike="noStrike"/>
          </a:p>
        </p:txBody>
      </p:sp>
      <p:sp>
        <p:nvSpPr>
          <p:cNvPr id="99" name="Google Shape;99;p15"/>
          <p:cNvSpPr/>
          <p:nvPr/>
        </p:nvSpPr>
        <p:spPr>
          <a:xfrm>
            <a:off x="7498913" y="6077545"/>
            <a:ext cx="5384721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$50B+ advertising automation market, growing 25% annually, with strong demand from mid-market and enterprise brands.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/>
          <p:nvPr/>
        </p:nvSpPr>
        <p:spPr>
          <a:xfrm>
            <a:off x="758309" y="1246942"/>
            <a:ext cx="5701546" cy="71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Our Solution</a:t>
            </a:r>
            <a:endParaRPr b="0" i="0" sz="4450" u="none" cap="none" strike="noStrike"/>
          </a:p>
        </p:txBody>
      </p:sp>
      <p:sp>
        <p:nvSpPr>
          <p:cNvPr id="106" name="Google Shape;106;p16"/>
          <p:cNvSpPr/>
          <p:nvPr/>
        </p:nvSpPr>
        <p:spPr>
          <a:xfrm>
            <a:off x="1844635" y="2955965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Intelligent Ad Copy Generation</a:t>
            </a:r>
            <a:endParaRPr b="0" i="0" sz="2200" u="none" cap="none" strike="noStrike"/>
          </a:p>
        </p:txBody>
      </p:sp>
      <p:sp>
        <p:nvSpPr>
          <p:cNvPr id="107" name="Google Shape;107;p16"/>
          <p:cNvSpPr/>
          <p:nvPr/>
        </p:nvSpPr>
        <p:spPr>
          <a:xfrm>
            <a:off x="758309" y="3442097"/>
            <a:ext cx="3937040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Primary capability and its benefit - </a:t>
            </a:r>
            <a:r>
              <a:rPr lang="en-US" sz="1550">
                <a:solidFill>
                  <a:srgbClr val="8F8F8F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Automated Evaluations</a:t>
            </a:r>
            <a:endParaRPr b="0" i="0" sz="1700" u="none" cap="none" strike="noStrike"/>
          </a:p>
        </p:txBody>
      </p:sp>
      <p:pic>
        <p:nvPicPr>
          <p:cNvPr descr="preencoded.png" id="108" name="Google Shape;10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0270" y="2392918"/>
            <a:ext cx="4589740" cy="4589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9" name="Google Shape;10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9290" y="3170813"/>
            <a:ext cx="324088" cy="40517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/>
          <p:nvPr/>
        </p:nvSpPr>
        <p:spPr>
          <a:xfrm>
            <a:off x="9934932" y="2955965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Smart Budget Optimization</a:t>
            </a:r>
            <a:endParaRPr b="0" i="0" sz="2200" u="none" cap="none" strike="noStrike"/>
          </a:p>
        </p:txBody>
      </p:sp>
      <p:sp>
        <p:nvSpPr>
          <p:cNvPr id="111" name="Google Shape;111;p16"/>
          <p:cNvSpPr/>
          <p:nvPr/>
        </p:nvSpPr>
        <p:spPr>
          <a:xfrm>
            <a:off x="9934932" y="3442097"/>
            <a:ext cx="3937159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Second capability and its value - </a:t>
            </a:r>
            <a:r>
              <a:rPr lang="en-US" sz="1550">
                <a:solidFill>
                  <a:srgbClr val="8F8F8F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Built-In Red Teaming</a:t>
            </a:r>
            <a:endParaRPr b="0" i="0" sz="1700" u="none" cap="none" strike="noStrike"/>
          </a:p>
        </p:txBody>
      </p:sp>
      <p:pic>
        <p:nvPicPr>
          <p:cNvPr descr="preencoded.png" id="112" name="Google Shape;11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0270" y="2392918"/>
            <a:ext cx="4589740" cy="4589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3" name="Google Shape;11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67308" y="3561457"/>
            <a:ext cx="324088" cy="40517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/>
          <p:nvPr/>
        </p:nvSpPr>
        <p:spPr>
          <a:xfrm>
            <a:off x="9934932" y="5239941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Real-Time Campaign Monitoring</a:t>
            </a:r>
            <a:endParaRPr b="0" i="0" sz="2200" u="none" cap="none" strike="noStrike"/>
          </a:p>
        </p:txBody>
      </p:sp>
      <p:sp>
        <p:nvSpPr>
          <p:cNvPr id="115" name="Google Shape;115;p16"/>
          <p:cNvSpPr/>
          <p:nvPr/>
        </p:nvSpPr>
        <p:spPr>
          <a:xfrm>
            <a:off x="9934932" y="5726073"/>
            <a:ext cx="3937159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Third capability addressing a pain point - </a:t>
            </a:r>
            <a:r>
              <a:rPr lang="en-US" sz="1550">
                <a:solidFill>
                  <a:srgbClr val="8F8F8F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Knowledge Graph Integration</a:t>
            </a:r>
            <a:endParaRPr b="0" i="0" sz="1700" u="none" cap="none" strike="noStrike"/>
          </a:p>
        </p:txBody>
      </p:sp>
      <p:pic>
        <p:nvPicPr>
          <p:cNvPr descr="preencoded.png" id="116" name="Google Shape;11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0270" y="2392918"/>
            <a:ext cx="4589740" cy="4589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7" name="Google Shape;11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76664" y="5799475"/>
            <a:ext cx="324088" cy="40517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/>
          <p:nvPr/>
        </p:nvSpPr>
        <p:spPr>
          <a:xfrm>
            <a:off x="1844635" y="5413296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Unique Value</a:t>
            </a:r>
            <a:endParaRPr b="0" i="0" sz="2200" u="none" cap="none" strike="noStrike"/>
          </a:p>
        </p:txBody>
      </p:sp>
      <p:sp>
        <p:nvSpPr>
          <p:cNvPr id="119" name="Google Shape;119;p16"/>
          <p:cNvSpPr/>
          <p:nvPr/>
        </p:nvSpPr>
        <p:spPr>
          <a:xfrm>
            <a:off x="758309" y="5899428"/>
            <a:ext cx="3937040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Unified platform + AI-powered automation reduces setup time by 70% and improves ROI by 35-45%.</a:t>
            </a:r>
            <a:endParaRPr b="0" i="0" sz="1700" u="none" cap="none" strike="noStrike"/>
          </a:p>
        </p:txBody>
      </p:sp>
      <p:pic>
        <p:nvPicPr>
          <p:cNvPr descr="preencoded.png" id="120" name="Google Shape;12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20270" y="2392918"/>
            <a:ext cx="4589740" cy="4589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1" name="Google Shape;12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38646" y="5408831"/>
            <a:ext cx="324088" cy="405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/>
          <p:nvPr/>
        </p:nvSpPr>
        <p:spPr>
          <a:xfrm>
            <a:off x="6244709" y="1176933"/>
            <a:ext cx="5701546" cy="71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Product Demo</a:t>
            </a:r>
            <a:endParaRPr b="0" i="0" sz="4450" u="none" cap="none" strike="noStrike"/>
          </a:p>
        </p:txBody>
      </p:sp>
      <p:pic>
        <p:nvPicPr>
          <p:cNvPr descr="preencoded.png" id="129" name="Google Shape;1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4709" y="2214563"/>
            <a:ext cx="1083231" cy="161270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/>
          <p:nvPr/>
        </p:nvSpPr>
        <p:spPr>
          <a:xfrm>
            <a:off x="7652841" y="2431125"/>
            <a:ext cx="52860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 xml:space="preserve">Use Case 1 - </a:t>
            </a:r>
            <a:r>
              <a:rPr lang="en-US" sz="1850">
                <a:solidFill>
                  <a:srgbClr val="8F8F8F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Evaluation Pipeline</a:t>
            </a:r>
            <a:endParaRPr b="0" i="0" sz="2200" u="none" cap="none" strike="noStrike"/>
          </a:p>
        </p:txBody>
      </p:sp>
      <p:sp>
        <p:nvSpPr>
          <p:cNvPr id="131" name="Google Shape;131;p17"/>
          <p:cNvSpPr/>
          <p:nvPr/>
        </p:nvSpPr>
        <p:spPr>
          <a:xfrm>
            <a:off x="7652861" y="2917269"/>
            <a:ext cx="6219230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Campaign Automation: From brief to live in hours, not days. Auto-generated copy, targeting, and budget allocation.</a:t>
            </a:r>
            <a:endParaRPr b="0" i="0" sz="1700" u="none" cap="none" strike="noStrike"/>
          </a:p>
        </p:txBody>
      </p:sp>
      <p:pic>
        <p:nvPicPr>
          <p:cNvPr descr="preencoded.png" id="132" name="Google Shape;13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4709" y="3827264"/>
            <a:ext cx="1083231" cy="161270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/>
          <p:nvPr/>
        </p:nvSpPr>
        <p:spPr>
          <a:xfrm>
            <a:off x="7652839" y="4043854"/>
            <a:ext cx="5701500" cy="4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 xml:space="preserve">Use Case 2 - </a:t>
            </a:r>
            <a:r>
              <a:rPr lang="en-US" sz="1850">
                <a:solidFill>
                  <a:srgbClr val="8F8F8F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Red Teaming</a:t>
            </a:r>
            <a:endParaRPr b="0" i="0" sz="2200" u="none" cap="none" strike="noStrike"/>
          </a:p>
        </p:txBody>
      </p:sp>
      <p:sp>
        <p:nvSpPr>
          <p:cNvPr id="134" name="Google Shape;134;p17"/>
          <p:cNvSpPr/>
          <p:nvPr/>
        </p:nvSpPr>
        <p:spPr>
          <a:xfrm>
            <a:off x="7652861" y="4529971"/>
            <a:ext cx="6219230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Performance Optimization: Real-time analytics identify top-performing creatives and automatically scale high-ROI campaigns.</a:t>
            </a:r>
            <a:endParaRPr b="0" i="0" sz="1700" u="none" cap="none" strike="noStrike"/>
          </a:p>
        </p:txBody>
      </p:sp>
      <p:pic>
        <p:nvPicPr>
          <p:cNvPr descr="preencoded.png" id="135" name="Google Shape;13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4709" y="5439966"/>
            <a:ext cx="1083231" cy="161270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/>
          <p:nvPr/>
        </p:nvSpPr>
        <p:spPr>
          <a:xfrm>
            <a:off x="7652839" y="5656551"/>
            <a:ext cx="58089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 xml:space="preserve">Use Case 3 - </a:t>
            </a:r>
            <a:r>
              <a:rPr lang="en-US" sz="1850">
                <a:solidFill>
                  <a:srgbClr val="8F8F8F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Knowledge Graph</a:t>
            </a:r>
            <a:endParaRPr b="0" i="0" sz="2200" u="none" cap="none" strike="noStrike"/>
          </a:p>
        </p:txBody>
      </p:sp>
      <p:sp>
        <p:nvSpPr>
          <p:cNvPr id="137" name="Google Shape;137;p17"/>
          <p:cNvSpPr/>
          <p:nvPr/>
        </p:nvSpPr>
        <p:spPr>
          <a:xfrm>
            <a:off x="7652861" y="6142673"/>
            <a:ext cx="6219230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Cross-Platform Management: Unified dashboard monitors and optimizes campaigns across Google, Meta, LinkedIn, and TikTok simultaneously.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/>
          <p:nvPr/>
        </p:nvSpPr>
        <p:spPr>
          <a:xfrm>
            <a:off x="758309" y="3758446"/>
            <a:ext cx="5766316" cy="71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Insert Demo Recording</a:t>
            </a:r>
            <a:endParaRPr b="0" i="0" sz="4450" u="none" cap="none" strike="noStrike"/>
          </a:p>
        </p:txBody>
      </p:sp>
      <p:sp>
        <p:nvSpPr>
          <p:cNvPr id="144" name="Google Shape;144;p18"/>
          <p:cNvSpPr txBox="1"/>
          <p:nvPr/>
        </p:nvSpPr>
        <p:spPr>
          <a:xfrm>
            <a:off x="852000" y="4471150"/>
            <a:ext cx="8523900" cy="10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8F8F8F"/>
                </a:solidFill>
                <a:latin typeface="Funnel Sans"/>
                <a:ea typeface="Funnel Sans"/>
                <a:cs typeface="Funnel Sans"/>
                <a:sym typeface="Funnel Sans"/>
              </a:rPr>
              <a:t>This is where the product speaks for itself. The demo walks through a real workflow - from connecting a knowledge source, to running evaluations, to red-teaming a production model - in under 3 minutes.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0" name="Google Shape;1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/>
          <p:nvPr/>
        </p:nvSpPr>
        <p:spPr>
          <a:xfrm>
            <a:off x="669012" y="677228"/>
            <a:ext cx="5030748" cy="628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3950"/>
              <a:buFont typeface="Barlow"/>
              <a:buNone/>
            </a:pPr>
            <a:r>
              <a:rPr b="1" i="0" lang="en-US" sz="395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Business Model&lt;/a:t&gt;
            &lt;/a:r&gt;
            &lt;a:endParaRPr b="0" i="0" sz="3950" u="none" cap="none" strike="noStrike"/&gt;
          &lt;/a:p&gt;
        &lt;/p:txBody&gt;
      &lt;/p:sp&gt;
      &lt;p:sp&gt;
        &lt;p:nvSpPr&gt;
          &lt;p:cNvPr id="152" name="Google Shape;152;p19"/&gt;
          &lt;p:cNvSpPr/&gt;
          &lt;p:nvPr/&gt;
        &lt;/p:nvSpPr&gt;
        &lt;p:spPr&gt;
          &lt;a:xfrm&gt;
            &lt;a:off x="669012" y="1592699"/&gt;
            &lt;a:ext cx="7805976" cy="1423035"/&gt;
          &lt;/a:xfrm&gt;
          &lt;a:prstGeom prst="roundRect"&gt;
            &lt;a:avLst&gt;
              &lt;a:gd fmla="val 12091" name="adj"/&gt;
            &lt;/a:avLst&gt;
          &lt;/a:prstGeom&gt;
          &lt;a:solidFill&gt;
            &lt;a:srgbClr val="EEEFF5"/&gt;
          &lt;/a:solidFill&gt;
          &lt;a:ln&gt;
            &lt;a:noFill/&gt;
          &lt;/a:ln&gt;
          &lt;a:effectLst&gt;
            &lt;a:outerShdw blurRad="46990" rotWithShape="0" algn="bl" dir="13500000" dist="22860"&gt;
              &lt;a:srgbClr val="FFFFFF"&gt;
                &lt;a:alpha val="69803"/&gt;
              &lt;/a:srgbClr&gt;
            &lt;/a:outerShdw&gt;
          &lt;/a:effectLst&gt;
        &lt;/p:spPr&gt;
        &lt;p:txBody&gt;
          &lt;a:bodyPr anchorCtr="0" anchor="ctr" bIns="91425" lIns="91425" spcFirstLastPara="1" rIns="91425" wrap="square" tIns="91425"&gt;
            &lt;a:noAutofit/&gt;
          &lt;/a:bodyPr&gt;
          &lt;a:lstStyle/&gt;
          &lt;a:p&gt;
            &lt;a:pPr indent="0" lvl="0" marL="0" rtl="0" algn="l"&gt;
              &lt;a:spcBef&gt;
                &lt;a:spcPts val="0"/&gt;
              &lt;/a:spcBef&gt;
              &lt;a:spcAft&gt;
                &lt;a:spcPts val="0"/&gt;
              &lt;/a:spcAft&gt;
              &lt;a:buNone/&gt;
            &lt;/a:pPr&gt;
            &lt;a:r&gt;
              &lt;a:t/&gt;
            &lt;/a:r&gt;
            &lt;a:endParaRPr/&gt;
          &lt;/a:p&gt;
        &lt;/p:txBody&gt;
      &lt;/p:sp&gt;
      &lt;p:sp&gt;
        &lt;p:nvSpPr&gt;
          &lt;p:cNvPr id="153" name="Google Shape;153;p19"/&gt;
          &lt;p:cNvSpPr/&gt;
          &lt;p:nvPr/&gt;
        &lt;/p:nvSpPr&gt;
        &lt;p:spPr&gt;
          &lt;a:xfrm&gt;
            &lt;a:off x="860108" y="1783794"/&gt;
            &lt;a:ext cx="2515314" cy="314444"/&gt;
          &lt;/a:xfrm&gt;
          &lt;a:prstGeom prst="rect"&gt;
            &lt;a:avLst/&gt;
          &lt;/a:prstGeom&gt;
          &lt;a:noFill/&gt;
          &lt;a:ln&gt;
            &lt;a:noFill/&gt;
          &lt;/a:ln&gt;
        &lt;/p:spPr&gt;
        &lt;p:txBody&gt;
          &lt;a:bodyPr anchorCtr="0" anchor="t" bIns="0" lIns="0" spcFirstLastPara="1" rIns="0" wrap="square" tIns="0"&gt;
            &lt;a:noAutofit/&gt;
          &lt;/a:bodyPr&gt;
          &lt;a:lstStyle/&gt;
          &lt;a:p&gt;
            &lt;a:pPr indent="0" lvl="0" marL="0" marR="0" rtl="0" algn="l"&gt;
              &lt;a:lnSpc&gt;
                &lt;a:spcPct val="125641"/&gt;
              &lt;/a:lnSpc&gt;
              &lt;a:spcBef&gt;
                &lt;a:spcPts val="0"/&gt;
              &lt;/a:spcBef&gt;
              &lt;a:spcAft&gt;
                &lt;a:spcPts val="0"/&gt;
              &lt;/a:spcAft&gt;
              &lt;a:buClr&gt;
                &lt;a:srgbClr val="272525"/&gt;
              &lt;/a:buClr&gt;
              &lt;a:buSzPts val="1950"/&gt;
              &lt;a:buFont typeface="Barlow"/&gt;
              &lt;a:buNone/&gt;
            &lt;/a:pPr&gt;
            &lt;a:r&gt;
              &lt;a:rPr b="1" i="0" lang="en-US" sz="1950" u="none" cap="none" strike="noStrike"&gt;
                &lt;a:solidFill&gt;
                  &lt;a:srgbClr val="272525"/&gt;
                &lt;/a:solidFill&gt;
                &lt;a:latin typeface="Barlow"/&gt;
                &lt;a:ea typeface="Barlow"/&gt;
                &lt;a:cs typeface="Barlow"/&gt;
                &lt;a:sym typeface="Barlow"/&gt;
              &lt;/a:rPr&gt;
              &lt;a:t&gt;Revenue Streams</a:t>
            </a:r>
            <a:endParaRPr b="0" i="0" sz="1950" u="none" cap="none" strike="noStrike"/>
          </a:p>
        </p:txBody>
      </p:sp>
      <p:sp>
        <p:nvSpPr>
          <p:cNvPr id="154" name="Google Shape;154;p19"/>
          <p:cNvSpPr/>
          <p:nvPr/>
        </p:nvSpPr>
        <p:spPr>
          <a:xfrm>
            <a:off x="860108" y="2212896"/>
            <a:ext cx="7423785" cy="611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SaaS subscription model: Tiered pricing based on monthly ad spend ($999-$9,999/month), with enterprise contracts for large agencies.&lt;/a:t&gt;
            &lt;/a:r&gt;
            &lt;a:endParaRPr b="0" i="0" sz="1500" u="none" cap="none" strike="noStrike"/&gt;
          &lt;/a:p&gt;
        &lt;/p:txBody&gt;
      &lt;/p:sp&gt;
      &lt;p:sp&gt;
        &lt;p:nvSpPr&gt;
          &lt;p:cNvPr id="155" name="Google Shape;155;p19"/&gt;
          &lt;p:cNvSpPr/&gt;
          &lt;p:nvPr/&gt;
        &lt;/p:nvSpPr&gt;
        &lt;p:spPr&gt;
          &lt;a:xfrm&gt;
            &lt;a:off x="669012" y="3206829"/&gt;
            &lt;a:ext cx="7805976" cy="1423035"/&gt;
          &lt;/a:xfrm&gt;
          &lt;a:prstGeom prst="roundRect"&gt;
            &lt;a:avLst&gt;
              &lt;a:gd fmla="val 12091" name="adj"/&gt;
            &lt;/a:avLst&gt;
          &lt;/a:prstGeom&gt;
          &lt;a:solidFill&gt;
            &lt;a:srgbClr val="EEEFF5"/&gt;
          &lt;/a:solidFill&gt;
          &lt;a:ln&gt;
            &lt;a:noFill/&gt;
          &lt;/a:ln&gt;
          &lt;a:effectLst&gt;
            &lt;a:outerShdw blurRad="46990" rotWithShape="0" algn="bl" dir="13500000" dist="22860"&gt;
              &lt;a:srgbClr val="FFFFFF"&gt;
                &lt;a:alpha val="69803"/&gt;
              &lt;/a:srgbClr&gt;
            &lt;/a:outerShdw&gt;
          &lt;/a:effectLst&gt;
        &lt;/p:spPr&gt;
        &lt;p:txBody&gt;
          &lt;a:bodyPr anchorCtr="0" anchor="ctr" bIns="91425" lIns="91425" spcFirstLastPara="1" rIns="91425" wrap="square" tIns="91425"&gt;
            &lt;a:noAutofit/&gt;
          &lt;/a:bodyPr&gt;
          &lt;a:lstStyle/&gt;
          &lt;a:p&gt;
            &lt;a:pPr indent="0" lvl="0" marL="0" rtl="0" algn="l"&gt;
              &lt;a:spcBef&gt;
                &lt;a:spcPts val="0"/&gt;
              &lt;/a:spcBef&gt;
              &lt;a:spcAft&gt;
                &lt;a:spcPts val="0"/&gt;
              &lt;/a:spcAft&gt;
              &lt;a:buNone/&gt;
            &lt;/a:pPr&gt;
            &lt;a:r&gt;
              &lt;a:t/&gt;
            &lt;/a:r&gt;
            &lt;a:endParaRPr/&gt;
          &lt;/a:p&gt;
        &lt;/p:txBody&gt;
      &lt;/p:sp&gt;
      &lt;p:sp&gt;
        &lt;p:nvSpPr&gt;
          &lt;p:cNvPr id="156" name="Google Shape;156;p19"/&gt;
          &lt;p:cNvSpPr/&gt;
          &lt;p:nvPr/&gt;
        &lt;/p:nvSpPr&gt;
        &lt;p:spPr&gt;
          &lt;a:xfrm&gt;
            &lt;a:off x="860108" y="3397925"/&gt;
            &lt;a:ext cx="2515314" cy="314444"/&gt;
          &lt;/a:xfrm&gt;
          &lt;a:prstGeom prst="rect"&gt;
            &lt;a:avLst/&gt;
          &lt;/a:prstGeom&gt;
          &lt;a:noFill/&gt;
          &lt;a:ln&gt;
            &lt;a:noFill/&gt;
          &lt;/a:ln&gt;
        &lt;/p:spPr&gt;
        &lt;p:txBody&gt;
          &lt;a:bodyPr anchorCtr="0" anchor="t" bIns="0" lIns="0" spcFirstLastPara="1" rIns="0" wrap="square" tIns="0"&gt;
            &lt;a:noAutofit/&gt;
          &lt;/a:bodyPr&gt;
          &lt;a:lstStyle/&gt;
          &lt;a:p&gt;
            &lt;a:pPr indent="0" lvl="0" marL="0" marR="0" rtl="0" algn="l"&gt;
              &lt;a:lnSpc&gt;
                &lt;a:spcPct val="125641"/&gt;
              &lt;/a:lnSpc&gt;
              &lt;a:spcBef&gt;
                &lt;a:spcPts val="0"/&gt;
              &lt;/a:spcBef&gt;
              &lt;a:spcAft&gt;
                &lt;a:spcPts val="0"/&gt;
              &lt;/a:spcAft&gt;
              &lt;a:buClr&gt;
                &lt;a:srgbClr val="272525"/&gt;
              &lt;/a:buClr&gt;
              &lt;a:buSzPts val="1950"/&gt;
              &lt;a:buFont typeface="Barlow"/&gt;
              &lt;a:buNone/&gt;
            &lt;/a:pPr&gt;
            &lt;a:r&gt;
              &lt;a:rPr b="1" i="0" lang="en-US" sz="1950" u="none" cap="none" strike="noStrike"&gt;
                &lt;a:solidFill&gt;
                  &lt;a:srgbClr val="272525"/&gt;
                &lt;/a:solidFill&gt;
                &lt;a:latin typeface="Barlow"/&gt;
                &lt;a:ea typeface="Barlow"/&gt;
                &lt;a:cs typeface="Barlow"/&gt;
                &lt;a:sym typeface="Barlow"/&gt;
              &lt;/a:rPr&gt;
              &lt;a:t&gt;Pricing Strategy</a:t>
            </a:r>
            <a:endParaRPr b="0" i="0" sz="1950" u="none" cap="none" strike="noStrike"/>
          </a:p>
        </p:txBody>
      </p:sp>
      <p:sp>
        <p:nvSpPr>
          <p:cNvPr id="157" name="Google Shape;157;p19"/>
          <p:cNvSpPr/>
          <p:nvPr/>
        </p:nvSpPr>
        <p:spPr>
          <a:xfrm>
            <a:off x="860108" y="3827026"/>
            <a:ext cx="7423785" cy="611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Value-based pricing tied to ad spend handled. Higher tiers unlock advanced features like predictive analytics and custom integrations.&lt;/a:t&gt;
            &lt;/a:r&gt;
            &lt;a:endParaRPr b="0" i="0" sz="1500" u="none" cap="none" strike="noStrike"/&gt;
          &lt;/a:p&gt;
        &lt;/p:txBody&gt;
      &lt;/p:sp&gt;
      &lt;p:sp&gt;
        &lt;p:nvSpPr&gt;
          &lt;p:cNvPr id="158" name="Google Shape;158;p19"/&gt;
          &lt;p:cNvSpPr/&gt;
          &lt;p:nvPr/&gt;
        &lt;/p:nvSpPr&gt;
        &lt;p:spPr&gt;
          &lt;a:xfrm&gt;
            &lt;a:off x="669012" y="4820960"/&gt;
            &lt;a:ext cx="7805976" cy="1423035"/&gt;
          &lt;/a:xfrm&gt;
          &lt;a:prstGeom prst="roundRect"&gt;
            &lt;a:avLst&gt;
              &lt;a:gd fmla="val 12091" name="adj"/&gt;
            &lt;/a:avLst&gt;
          &lt;/a:prstGeom&gt;
          &lt;a:solidFill&gt;
            &lt;a:srgbClr val="EEEFF5"/&gt;
          &lt;/a:solidFill&gt;
          &lt;a:ln&gt;
            &lt;a:noFill/&gt;
          &lt;/a:ln&gt;
          &lt;a:effectLst&gt;
            &lt;a:outerShdw blurRad="46990" rotWithShape="0" algn="bl" dir="13500000" dist="22860"&gt;
              &lt;a:srgbClr val="FFFFFF"&gt;
                &lt;a:alpha val="69803"/&gt;
              &lt;/a:srgbClr&gt;
            &lt;/a:outerShdw&gt;
          &lt;/a:effectLst&gt;
        &lt;/p:spPr&gt;
        &lt;p:txBody&gt;
          &lt;a:bodyPr anchorCtr="0" anchor="ctr" bIns="91425" lIns="91425" spcFirstLastPara="1" rIns="91425" wrap="square" tIns="91425"&gt;
            &lt;a:noAutofit/&gt;
          &lt;/a:bodyPr&gt;
          &lt;a:lstStyle/&gt;
          &lt;a:p&gt;
            &lt;a:pPr indent="0" lvl="0" marL="0" rtl="0" algn="l"&gt;
              &lt;a:spcBef&gt;
                &lt;a:spcPts val="0"/&gt;
              &lt;/a:spcBef&gt;
              &lt;a:spcAft&gt;
                &lt;a:spcPts val="0"/&gt;
              &lt;/a:spcAft&gt;
              &lt;a:buNone/&gt;
            &lt;/a:pPr&gt;
            &lt;a:r&gt;
              &lt;a:t/&gt;
            &lt;/a:r&gt;
            &lt;a:endParaRPr/&gt;
          &lt;/a:p&gt;
        &lt;/p:txBody&gt;
      &lt;/p:sp&gt;
      &lt;p:sp&gt;
        &lt;p:nvSpPr&gt;
          &lt;p:cNvPr id="159" name="Google Shape;159;p19"/&gt;
          &lt;p:cNvSpPr/&gt;
          &lt;p:nvPr/&gt;
        &lt;/p:nvSpPr&gt;
        &lt;p:spPr&gt;
          &lt;a:xfrm&gt;
            &lt;a:off x="860108" y="5012055"/&gt;
            &lt;a:ext cx="2515314" cy="314444"/&gt;
          &lt;/a:xfrm&gt;
          &lt;a:prstGeom prst="rect"&gt;
            &lt;a:avLst/&gt;
          &lt;/a:prstGeom&gt;
          &lt;a:noFill/&gt;
          &lt;a:ln&gt;
            &lt;a:noFill/&gt;
          &lt;/a:ln&gt;
        &lt;/p:spPr&gt;
        &lt;p:txBody&gt;
          &lt;a:bodyPr anchorCtr="0" anchor="t" bIns="0" lIns="0" spcFirstLastPara="1" rIns="0" wrap="square" tIns="0"&gt;
            &lt;a:noAutofit/&gt;
          &lt;/a:bodyPr&gt;
          &lt;a:lstStyle/&gt;
          &lt;a:p&gt;
            &lt;a:pPr indent="0" lvl="0" marL="0" marR="0" rtl="0" algn="l"&gt;
              &lt;a:lnSpc&gt;
                &lt;a:spcPct val="125641"/&gt;
              &lt;/a:lnSpc&gt;
              &lt;a:spcBef&gt;
                &lt;a:spcPts val="0"/&gt;
              &lt;/a:spcBef&gt;
              &lt;a:spcAft&gt;
                &lt;a:spcPts val="0"/&gt;
              &lt;/a:spcAft&gt;
              &lt;a:buClr&gt;
                &lt;a:srgbClr val="272525"/&gt;
              &lt;/a:buClr&gt;
              &lt;a:buSzPts val="1950"/&gt;
              &lt;a:buFont typeface="Barlow"/&gt;
              &lt;a:buNone/&gt;
            &lt;/a:pPr&gt;
            &lt;a:r&gt;
              &lt;a:rPr b="1" i="0" lang="en-US" sz="1950" u="none" cap="none" strike="noStrike"&gt;
                &lt;a:solidFill&gt;
                  &lt;a:srgbClr val="272525"/&gt;
                &lt;/a:solidFill&gt;
                &lt;a:latin typeface="Barlow"/&gt;
                &lt;a:ea typeface="Barlow"/&gt;
                &lt;a:cs typeface="Barlow"/&gt;
                &lt;a:sym typeface="Barlow"/&gt;
              &lt;/a:rPr&gt;
              &lt;a:t&gt;Customer Acquisition</a:t>
            </a:r>
            <a:endParaRPr b="0" i="0" sz="1950" u="none" cap="none" strike="noStrike"/>
          </a:p>
        </p:txBody>
      </p:sp>
      <p:sp>
        <p:nvSpPr>
          <p:cNvPr id="160" name="Google Shape;160;p19"/>
          <p:cNvSpPr/>
          <p:nvPr/>
        </p:nvSpPr>
        <p:spPr>
          <a:xfrm>
            <a:off x="860108" y="5441156"/>
            <a:ext cx="7423785" cy="611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Direct sales to mid-market brands and agencies, product-led growth via free tier, partnerships with ad platforms and agency networks.&lt;/a:t&gt;
            &lt;/a:r&gt;
            &lt;a:endParaRPr b="0" i="0" sz="1500" u="none" cap="none" strike="noStrike"/&gt;
          &lt;/a:p&gt;
        &lt;/p:txBody&gt;
      &lt;/p:sp&gt;
      &lt;p:sp&gt;
        &lt;p:nvSpPr&gt;
          &lt;p:cNvPr id="161" name="Google Shape;161;p19"/&gt;
          &lt;p:cNvSpPr/&gt;
          &lt;p:nvPr/&gt;
        &lt;/p:nvSpPr&gt;
        &lt;p:spPr&gt;
          &lt;a:xfrm&gt;
            &lt;a:off x="669012" y="6435090"/&gt;
            &lt;a:ext cx="7805976" cy="1117163"/&gt;
          &lt;/a:xfrm&gt;
          &lt;a:prstGeom prst="roundRect"&gt;
            &lt;a:avLst&gt;
              &lt;a:gd fmla="val 15401" name="adj"/&gt;
            &lt;/a:avLst&gt;
          &lt;/a:prstGeom&gt;
          &lt;a:solidFill&gt;
            &lt;a:srgbClr val="EEEFF5"/&gt;
          &lt;/a:solidFill&gt;
          &lt;a:ln&gt;
            &lt;a:noFill/&gt;
          &lt;/a:ln&gt;
          &lt;a:effectLst&gt;
            &lt;a:outerShdw blurRad="46990" rotWithShape="0" algn="bl" dir="13500000" dist="22860"&gt;
              &lt;a:srgbClr val="FFFFFF"&gt;
                &lt;a:alpha val="69803"/&gt;
              &lt;/a:srgbClr&gt;
            &lt;/a:outerShdw&gt;
          &lt;/a:effectLst&gt;
        &lt;/p:spPr&gt;
        &lt;p:txBody&gt;
          &lt;a:bodyPr anchorCtr="0" anchor="ctr" bIns="91425" lIns="91425" spcFirstLastPara="1" rIns="91425" wrap="square" tIns="91425"&gt;
            &lt;a:noAutofit/&gt;
          &lt;/a:bodyPr&gt;
          &lt;a:lstStyle/&gt;
          &lt;a:p&gt;
            &lt;a:pPr indent="0" lvl="0" marL="0" rtl="0" algn="l"&gt;
              &lt;a:spcBef&gt;
                &lt;a:spcPts val="0"/&gt;
              &lt;/a:spcBef&gt;
              &lt;a:spcAft&gt;
                &lt;a:spcPts val="0"/&gt;
              &lt;/a:spcAft&gt;
              &lt;a:buNone/&gt;
            &lt;/a:pPr&gt;
            &lt;a:r&gt;
              &lt;a:t/&gt;
            &lt;/a:r&gt;
            &lt;a:endParaRPr/&gt;
          &lt;/a:p&gt;
        &lt;/p:txBody&gt;
      &lt;/p:sp&gt;
      &lt;p:sp&gt;
        &lt;p:nvSpPr&gt;
          &lt;p:cNvPr id="162" name="Google Shape;162;p19"/&gt;
          &lt;p:cNvSpPr/&gt;
          &lt;p:nvPr/&gt;
        &lt;/p:nvSpPr&gt;
        &lt;p:spPr&gt;
          &lt;a:xfrm&gt;
            &lt;a:off x="860108" y="6626185"/&gt;
            &lt;a:ext cx="2515314" cy="314444"/&gt;
          &lt;/a:xfrm&gt;
          &lt;a:prstGeom prst="rect"&gt;
            &lt;a:avLst/&gt;
          &lt;/a:prstGeom&gt;
          &lt;a:noFill/&gt;
          &lt;a:ln&gt;
            &lt;a:noFill/&gt;
          &lt;/a:ln&gt;
        &lt;/p:spPr&gt;
        &lt;p:txBody&gt;
          &lt;a:bodyPr anchorCtr="0" anchor="t" bIns="0" lIns="0" spcFirstLastPara="1" rIns="0" wrap="square" tIns="0"&gt;
            &lt;a:noAutofit/&gt;
          &lt;/a:bodyPr&gt;
          &lt;a:lstStyle/&gt;
          &lt;a:p&gt;
            &lt;a:pPr indent="0" lvl="0" marL="0" marR="0" rtl="0" algn="l"&gt;
              &lt;a:lnSpc&gt;
                &lt;a:spcPct val="125641"/&gt;
              &lt;/a:lnSpc&gt;
              &lt;a:spcBef&gt;
                &lt;a:spcPts val="0"/&gt;
              &lt;/a:spcBef&gt;
              &lt;a:spcAft&gt;
                &lt;a:spcPts val="0"/&gt;
              &lt;/a:spcAft&gt;
              &lt;a:buClr&gt;
                &lt;a:srgbClr val="272525"/&gt;
              &lt;/a:buClr&gt;
              &lt;a:buSzPts val="1950"/&gt;
              &lt;a:buFont typeface="Barlow"/&gt;
              &lt;a:buNone/&gt;
            &lt;/a:pPr&gt;
            &lt;a:r&gt;
              &lt;a:rPr b="1" i="0" lang="en-US" sz="1950" u="none" cap="none" strike="noStrike"&gt;
                &lt;a:solidFill&gt;
                  &lt;a:srgbClr val="272525"/&gt;
                &lt;/a:solidFill&gt;
                &lt;a:latin typeface="Barlow"/&gt;
                &lt;a:ea typeface="Barlow"/&gt;
                &lt;a:cs typeface="Barlow"/&gt;
                &lt;a:sym typeface="Barlow"/&gt;
              &lt;/a:rPr&gt;
              &lt;a:t&gt;Key Metrics</a:t>
            </a:r>
            <a:endParaRPr b="0" i="0" sz="1950" u="none" cap="none" strike="noStrike"/>
          </a:p>
        </p:txBody>
      </p:sp>
      <p:sp>
        <p:nvSpPr>
          <p:cNvPr id="163" name="Google Shape;163;p19"/>
          <p:cNvSpPr/>
          <p:nvPr/>
        </p:nvSpPr>
        <p:spPr>
          <a:xfrm>
            <a:off x="860108" y="7055287"/>
            <a:ext cx="7423785" cy="305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• Campaign setup time (target: &lt;1 hour)
• ROI improvement (target: 35-45%)
• Customer acquisition cost (target: &lt;$5K)
• Monthly recurring revenue growth (target: 20%+ MoM)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9" name="Google Shape;1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52138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/>
          <p:nvPr/>
        </p:nvSpPr>
        <p:spPr>
          <a:xfrm>
            <a:off x="705922" y="3077051"/>
            <a:ext cx="5308402" cy="663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4150"/>
              <a:buFont typeface="Barlow"/>
              <a:buNone/>
            </a:pPr>
            <a:r>
              <a:rPr b="1" i="0" lang="en-US" sz="415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The Team</a:t>
            </a:r>
            <a:endParaRPr b="0" i="0" sz="4150" u="none" cap="none" strike="noStrike"/>
          </a:p>
        </p:txBody>
      </p:sp>
      <p:pic>
        <p:nvPicPr>
          <p:cNvPr descr="preencoded.png" id="171" name="Google Shape;17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922" y="4043124"/>
            <a:ext cx="1008578" cy="121027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/>
          <p:nvPr/>
        </p:nvSpPr>
        <p:spPr>
          <a:xfrm>
            <a:off x="2017038" y="4244816"/>
            <a:ext cx="2654141" cy="331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Barlow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Team Member 1</a:t>
            </a:r>
            <a:endParaRPr b="0" i="0" sz="2050" u="none" cap="none" strike="noStrike"/>
          </a:p>
        </p:txBody>
      </p:sp>
      <p:sp>
        <p:nvSpPr>
          <p:cNvPr id="173" name="Google Shape;173;p20"/>
          <p:cNvSpPr/>
          <p:nvPr/>
        </p:nvSpPr>
        <p:spPr>
          <a:xfrm>
            <a:off x="2017038" y="4697492"/>
            <a:ext cx="11907441" cy="322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Add title, background, and relevant expertise. Highlight AI or industry experience.</a:t>
            </a:r>
            <a:endParaRPr b="0" i="0" sz="1550" u="none" cap="none" strike="noStrike"/>
          </a:p>
        </p:txBody>
      </p:sp>
      <p:pic>
        <p:nvPicPr>
          <p:cNvPr descr="preencoded.png" id="174" name="Google Shape;17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5922" y="5253395"/>
            <a:ext cx="1008578" cy="121027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/>
          <p:nvPr/>
        </p:nvSpPr>
        <p:spPr>
          <a:xfrm>
            <a:off x="2017038" y="5455087"/>
            <a:ext cx="2654141" cy="331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Barlow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Team Member 2</a:t>
            </a:r>
            <a:endParaRPr b="0" i="0" sz="2050" u="none" cap="none" strike="noStrike"/>
          </a:p>
        </p:txBody>
      </p:sp>
      <p:sp>
        <p:nvSpPr>
          <p:cNvPr id="176" name="Google Shape;176;p20"/>
          <p:cNvSpPr/>
          <p:nvPr/>
        </p:nvSpPr>
        <p:spPr>
          <a:xfrm>
            <a:off x="2017038" y="5907762"/>
            <a:ext cx="11907441" cy="322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Add title, background, and relevant expertise. Highlight AI or industry experience.</a:t>
            </a:r>
            <a:endParaRPr b="0" i="0" sz="1550" u="none" cap="none" strike="noStrike"/>
          </a:p>
        </p:txBody>
      </p:sp>
      <p:pic>
        <p:nvPicPr>
          <p:cNvPr descr="preencoded.png" id="177" name="Google Shape;17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5922" y="6463665"/>
            <a:ext cx="1008578" cy="121027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/>
          <p:nvPr/>
        </p:nvSpPr>
        <p:spPr>
          <a:xfrm>
            <a:off x="2017038" y="6665357"/>
            <a:ext cx="2654141" cy="331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Barlow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Advisors</a:t>
            </a:r>
            <a:endParaRPr b="0" i="0" sz="2050" u="none" cap="none" strike="noStrike"/>
          </a:p>
        </p:txBody>
      </p:sp>
      <p:sp>
        <p:nvSpPr>
          <p:cNvPr id="179" name="Google Shape;179;p20"/>
          <p:cNvSpPr/>
          <p:nvPr/>
        </p:nvSpPr>
        <p:spPr>
          <a:xfrm>
            <a:off x="2017038" y="7118033"/>
            <a:ext cx="11907441" cy="322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List people who have supported your journey. Include names, titles, and affiliations.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/>
          <p:nvPr/>
        </p:nvSpPr>
        <p:spPr>
          <a:xfrm>
            <a:off x="758309" y="404199"/>
            <a:ext cx="57015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What We've Learned</a:t>
            </a:r>
            <a:endParaRPr b="0" i="0" sz="4450" u="none" cap="none" strike="noStrike"/>
          </a:p>
        </p:txBody>
      </p:sp>
      <p:pic>
        <p:nvPicPr>
          <p:cNvPr descr="preencoded.png"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309" y="1550175"/>
            <a:ext cx="541615" cy="54161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/>
          <p:nvPr/>
        </p:nvSpPr>
        <p:spPr>
          <a:xfrm>
            <a:off x="758309" y="2308365"/>
            <a:ext cx="28506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Key Insight 1</a:t>
            </a:r>
            <a:endParaRPr b="0" i="0" sz="2200" u="none" cap="none" strike="noStrike"/>
          </a:p>
        </p:txBody>
      </p:sp>
      <p:sp>
        <p:nvSpPr>
          <p:cNvPr id="188" name="Google Shape;188;p21"/>
          <p:cNvSpPr/>
          <p:nvPr/>
        </p:nvSpPr>
        <p:spPr>
          <a:xfrm>
            <a:off x="758309" y="2794497"/>
            <a:ext cx="41547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Marketing teams standardize on unified platforms. Fragmentation is their #1 pain point.</a:t>
            </a:r>
            <a:endParaRPr b="0" i="0" sz="1700" u="none" cap="none" strike="noStrike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t/>
            </a:r>
            <a:endParaRPr sz="1700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50"/>
              <a:buFont typeface="Funnel Sans"/>
              <a:buChar char="•"/>
            </a:pPr>
            <a:r>
              <a:rPr b="1" lang="en-US" sz="1450">
                <a:solidFill>
                  <a:srgbClr val="8F8F8F"/>
                </a:solidFill>
                <a:latin typeface="Funnel Sans"/>
                <a:ea typeface="Funnel Sans"/>
                <a:cs typeface="Funnel Sans"/>
                <a:sym typeface="Funnel Sans"/>
              </a:rPr>
              <a:t>Evaluation is the gate</a:t>
            </a:r>
            <a:r>
              <a:rPr lang="en-US" sz="1450">
                <a:solidFill>
                  <a:srgbClr val="8F8F8F"/>
                </a:solidFill>
                <a:latin typeface="Funnel Sans"/>
                <a:ea typeface="Funnel Sans"/>
                <a:cs typeface="Funnel Sans"/>
                <a:sym typeface="Funnel Sans"/>
              </a:rPr>
              <a:t xml:space="preserve"> -  Teams won't scale AI without a reliable testing layer. This is the core wedge.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t/>
            </a:r>
            <a:endParaRPr sz="1700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reencoded.png" id="189" name="Google Shape;18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7798" y="1550175"/>
            <a:ext cx="541615" cy="54161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/>
          <p:nvPr/>
        </p:nvSpPr>
        <p:spPr>
          <a:xfrm>
            <a:off x="5237798" y="2308365"/>
            <a:ext cx="28506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Key Learning 2</a:t>
            </a:r>
            <a:endParaRPr b="0" i="0" sz="2200" u="none" cap="none" strike="noStrike"/>
          </a:p>
        </p:txBody>
      </p:sp>
      <p:sp>
        <p:nvSpPr>
          <p:cNvPr id="191" name="Google Shape;191;p21"/>
          <p:cNvSpPr/>
          <p:nvPr/>
        </p:nvSpPr>
        <p:spPr>
          <a:xfrm>
            <a:off x="5237798" y="2794497"/>
            <a:ext cx="41547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AI-powered optimization requires trust. Red teaming and explainability are table-stakes for enterprise adoption.</a:t>
            </a:r>
            <a:endParaRPr b="0" i="0" sz="1700" u="none" cap="none" strike="noStrike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t/>
            </a:r>
            <a:endParaRPr sz="1700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50"/>
              <a:buFont typeface="Funnel Sans"/>
              <a:buChar char="•"/>
            </a:pPr>
            <a:r>
              <a:rPr b="1" lang="en-US" sz="1450">
                <a:solidFill>
                  <a:srgbClr val="8F8F8F"/>
                </a:solidFill>
                <a:latin typeface="Funnel Sans"/>
                <a:ea typeface="Funnel Sans"/>
                <a:cs typeface="Funnel Sans"/>
                <a:sym typeface="Funnel Sans"/>
              </a:rPr>
              <a:t>Red teaming must be automated</a:t>
            </a:r>
            <a:r>
              <a:rPr lang="en-US" sz="1450">
                <a:solidFill>
                  <a:srgbClr val="8F8F8F"/>
                </a:solidFill>
                <a:latin typeface="Funnel Sans"/>
                <a:ea typeface="Funnel Sans"/>
                <a:cs typeface="Funnel Sans"/>
                <a:sym typeface="Funnel Sans"/>
              </a:rPr>
              <a:t xml:space="preserve"> — Manual security reviews don't scale. Automation is non-negotiable.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t/>
            </a:r>
            <a:endParaRPr sz="1700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reencoded.png" id="192" name="Google Shape;19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7405" y="1550175"/>
            <a:ext cx="541615" cy="54161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/>
          <p:nvPr/>
        </p:nvSpPr>
        <p:spPr>
          <a:xfrm>
            <a:off x="9717405" y="2308365"/>
            <a:ext cx="28506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Next Steps</a:t>
            </a:r>
            <a:endParaRPr b="0" i="0" sz="2200" u="none" cap="none" strike="noStrike"/>
          </a:p>
        </p:txBody>
      </p:sp>
      <p:sp>
        <p:nvSpPr>
          <p:cNvPr id="194" name="Google Shape;194;p21"/>
          <p:cNvSpPr/>
          <p:nvPr/>
        </p:nvSpPr>
        <p:spPr>
          <a:xfrm>
            <a:off x="9717405" y="2794497"/>
            <a:ext cx="41547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Q2 2026: Full launch, enterprise onboarding. Q3 2026: Advanced predictive analytics and AI Agents.</a:t>
            </a:r>
            <a:endParaRPr b="0" i="0" sz="1700" u="none" cap="none" strike="noStrike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t/>
            </a:r>
            <a:endParaRPr sz="1700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50"/>
              <a:buFont typeface="Funnel Sans"/>
              <a:buChar char="•"/>
            </a:pPr>
            <a:r>
              <a:rPr b="1" lang="en-US" sz="1450">
                <a:solidFill>
                  <a:srgbClr val="8F8F8F"/>
                </a:solidFill>
                <a:latin typeface="Funnel Sans"/>
                <a:ea typeface="Funnel Sans"/>
                <a:cs typeface="Funnel Sans"/>
                <a:sym typeface="Funnel Sans"/>
              </a:rPr>
              <a:t>Knowledge graphs reduce hallucinations by 60%+</a:t>
            </a:r>
            <a:r>
              <a:rPr lang="en-US" sz="1450">
                <a:solidFill>
                  <a:srgbClr val="8F8F8F"/>
                </a:solidFill>
                <a:latin typeface="Funnel Sans"/>
                <a:ea typeface="Funnel Sans"/>
                <a:cs typeface="Funnel Sans"/>
                <a:sym typeface="Funnel Sans"/>
              </a:rPr>
              <a:t xml:space="preserve"> - Grounding is the most impactful single lever.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t/>
            </a:r>
            <a:endParaRPr sz="1700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/>
          <p:nvPr/>
        </p:nvSpPr>
        <p:spPr>
          <a:xfrm>
            <a:off x="680834" y="246774"/>
            <a:ext cx="57015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What</a:t>
            </a:r>
            <a:r>
              <a:rPr b="1" lang="en-US" sz="4450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’s</a:t>
            </a:r>
            <a:r>
              <a:rPr b="1" i="0" lang="en-US" sz="445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 xml:space="preserve"> </a:t>
            </a:r>
            <a:r>
              <a:rPr b="1" lang="en-US" sz="4450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Next</a:t>
            </a:r>
            <a:endParaRPr b="0" i="0" sz="4450" u="none" cap="none" strike="noStrike"/>
          </a:p>
        </p:txBody>
      </p:sp>
      <p:sp>
        <p:nvSpPr>
          <p:cNvPr id="201" name="Google Shape;201;p22"/>
          <p:cNvSpPr/>
          <p:nvPr/>
        </p:nvSpPr>
        <p:spPr>
          <a:xfrm>
            <a:off x="680825" y="5164150"/>
            <a:ext cx="7339800" cy="1039500"/>
          </a:xfrm>
          <a:prstGeom prst="roundRect">
            <a:avLst>
              <a:gd fmla="val 7638" name="adj"/>
            </a:avLst>
          </a:prstGeom>
          <a:solidFill>
            <a:srgbClr val="022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836525" y="5372550"/>
            <a:ext cx="65451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Funnel Sans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Open to:</a:t>
            </a:r>
            <a:r>
              <a:rPr b="0" i="0" lang="en-US" sz="1450" u="none" cap="none" strike="noStrik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 xml:space="preserve"> Seed investors, enterprise design partners, ML engineering talent, and LLM platform partnerships.</a:t>
            </a:r>
            <a:endParaRPr b="0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738934" y="1224015"/>
            <a:ext cx="28506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lang="en-US" sz="2200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Roadmap</a:t>
            </a:r>
            <a:endParaRPr b="0" i="0" sz="2200" u="none" cap="none" strike="noStrike"/>
          </a:p>
        </p:txBody>
      </p:sp>
      <p:sp>
        <p:nvSpPr>
          <p:cNvPr id="204" name="Google Shape;204;p22"/>
          <p:cNvSpPr/>
          <p:nvPr/>
        </p:nvSpPr>
        <p:spPr>
          <a:xfrm>
            <a:off x="738934" y="1710147"/>
            <a:ext cx="41547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Share your </a:t>
            </a:r>
            <a:r>
              <a:rPr lang="en-US" sz="1700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Product Roadmap 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t/>
            </a:r>
            <a:endParaRPr sz="1700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0" name="Google Shape;21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70819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/>
          <p:nvPr/>
        </p:nvSpPr>
        <p:spPr>
          <a:xfrm>
            <a:off x="758309" y="3137302"/>
            <a:ext cx="57015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Connect with Me</a:t>
            </a:r>
            <a:endParaRPr b="0" i="0" sz="4450" u="none" cap="none" strike="noStrike"/>
          </a:p>
        </p:txBody>
      </p:sp>
      <p:sp>
        <p:nvSpPr>
          <p:cNvPr id="212" name="Google Shape;212;p23"/>
          <p:cNvSpPr/>
          <p:nvPr/>
        </p:nvSpPr>
        <p:spPr>
          <a:xfrm>
            <a:off x="758309" y="4391507"/>
            <a:ext cx="28506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LinkedIn</a:t>
            </a:r>
            <a:endParaRPr b="0" i="0" sz="2200" u="none" cap="none" strike="noStrike"/>
          </a:p>
        </p:txBody>
      </p:sp>
      <p:sp>
        <p:nvSpPr>
          <p:cNvPr id="213" name="Google Shape;213;p23"/>
          <p:cNvSpPr/>
          <p:nvPr/>
        </p:nvSpPr>
        <p:spPr>
          <a:xfrm>
            <a:off x="758309" y="4964316"/>
            <a:ext cx="40197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1700"/>
              <a:buFont typeface="Montserrat"/>
              <a:buNone/>
            </a:pPr>
            <a:r>
              <a:rPr b="0" i="0" lang="en-US" sz="17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Linkedin.com</a:t>
            </a: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/</a:t>
            </a:r>
            <a:endParaRPr b="0" i="0" sz="1700" u="none" cap="none" strike="noStrike"/>
          </a:p>
        </p:txBody>
      </p:sp>
      <p:sp>
        <p:nvSpPr>
          <p:cNvPr id="214" name="Google Shape;214;p23"/>
          <p:cNvSpPr/>
          <p:nvPr/>
        </p:nvSpPr>
        <p:spPr>
          <a:xfrm>
            <a:off x="5314236" y="4391507"/>
            <a:ext cx="28506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Email</a:t>
            </a:r>
            <a:endParaRPr b="0" i="0" sz="2200" u="none" cap="none" strike="noStrike"/>
          </a:p>
        </p:txBody>
      </p:sp>
      <p:sp>
        <p:nvSpPr>
          <p:cNvPr id="215" name="Google Shape;215;p23"/>
          <p:cNvSpPr/>
          <p:nvPr/>
        </p:nvSpPr>
        <p:spPr>
          <a:xfrm>
            <a:off x="5314236" y="4964316"/>
            <a:ext cx="40185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1700"/>
              <a:buFont typeface="Montserrat"/>
              <a:buNone/>
            </a:pPr>
            <a:r>
              <a:rPr b="0" i="0" lang="en-US" sz="17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info@example.com</a:t>
            </a:r>
            <a:endParaRPr b="0" i="0" sz="1700" u="none" cap="none" strike="noStrike"/>
          </a:p>
        </p:txBody>
      </p:sp>
      <p:sp>
        <p:nvSpPr>
          <p:cNvPr id="216" name="Google Shape;216;p23"/>
          <p:cNvSpPr/>
          <p:nvPr/>
        </p:nvSpPr>
        <p:spPr>
          <a:xfrm>
            <a:off x="9868852" y="4391507"/>
            <a:ext cx="28506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Website</a:t>
            </a:r>
            <a:endParaRPr b="0" i="0" sz="2200" u="none" cap="none" strike="noStrike"/>
          </a:p>
        </p:txBody>
      </p:sp>
      <p:sp>
        <p:nvSpPr>
          <p:cNvPr id="217" name="Google Shape;217;p23"/>
          <p:cNvSpPr/>
          <p:nvPr/>
        </p:nvSpPr>
        <p:spPr>
          <a:xfrm>
            <a:off x="9868852" y="4964316"/>
            <a:ext cx="40185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1700"/>
              <a:buFont typeface="Montserrat"/>
              <a:buNone/>
            </a:pPr>
            <a:r>
              <a:rPr b="0" i="0" lang="en-US" sz="17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www.example.com</a:t>
            </a:r>
            <a:endParaRPr b="0" i="0" sz="1700" u="none" cap="none" strike="noStrike"/>
          </a:p>
        </p:txBody>
      </p:sp>
      <p:sp>
        <p:nvSpPr>
          <p:cNvPr id="218" name="Google Shape;218;p23"/>
          <p:cNvSpPr/>
          <p:nvPr/>
        </p:nvSpPr>
        <p:spPr>
          <a:xfrm>
            <a:off x="758309" y="6078836"/>
            <a:ext cx="131139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We're here to help! Reach out with any questions or inquiries.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78D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